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IBERDROLA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Datathon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Placement of EV Charging Infrastructure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EU 2030 Requirements Through Data-Driven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21,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Spain's Charging Infrastructure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474720" cy="2011680"/>
          </a:xfrm>
          <a:prstGeom prst="roundRect">
            <a:avLst/>
          </a:prstGeom>
          <a:solidFill>
            <a:srgbClr val="1A3D1A"/>
          </a:solidFill>
          <a:ln w="25400">
            <a:solidFill>
              <a:srgbClr val="00D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chargers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EU by 2030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474720" cy="2011680"/>
          </a:xfrm>
          <a:prstGeom prst="roundRect">
            <a:avLst/>
          </a:prstGeom>
          <a:solidFill>
            <a:srgbClr val="3D3D1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~50,000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29768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installed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Spain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3D1A1A"/>
          </a:solidFill>
          <a:ln w="25400">
            <a:solidFill>
              <a:srgbClr val="FF3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370,000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3816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to fill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92,500/year needed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installation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required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3931920"/>
            <a:ext cx="8686800" cy="1371600"/>
          </a:xfrm>
          <a:prstGeom prst="roundRect">
            <a:avLst/>
          </a:prstGeom>
          <a:solidFill>
            <a:srgbClr val="2A2A3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4297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2027: Over 1.5 million EVs projected on Spanish roads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at Capacity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320040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65760" cy="36576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91.5% — Congested (574 stations)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365760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 — Moderate capacity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365760" cy="365760"/>
          </a:xfrm>
          <a:prstGeom prst="rect">
            <a:avLst/>
          </a:prstGeom>
          <a:solidFill>
            <a:srgbClr val="00D864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 — Available for expansion (33 stations)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1274552" cy="1371600"/>
          </a:xfrm>
          <a:prstGeom prst="roundRect">
            <a:avLst/>
          </a:prstGeom>
          <a:solidFill>
            <a:srgbClr val="2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Voice: 8,350 conversations analyzed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pain points: App/Digital (29.2% negative) | Pricing (25.8%) | Route Planning (27.5%) | Reliability (25.9%)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Methodology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Three-Pillar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1645920"/>
          </a:xfrm>
          <a:prstGeom prst="roundRect">
            <a:avLst/>
          </a:prstGeom>
          <a:solidFill>
            <a:srgbClr val="1A3D1A"/>
          </a:solidFill>
          <a:ln w="12700">
            <a:solidFill>
              <a:srgbClr val="00D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627 existing stations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grid capacity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403 friction 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57600" cy="1645920"/>
          </a:xfrm>
          <a:prstGeom prst="roundRect">
            <a:avLst/>
          </a:prstGeom>
          <a:solidFill>
            <a:srgbClr val="1A3D1A"/>
          </a:solidFill>
          <a:ln w="12700">
            <a:solidFill>
              <a:srgbClr val="00D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8056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Synthesized 8,350 conversations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12 demand themes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reliability needs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57600" cy="1645920"/>
          </a:xfrm>
          <a:prstGeom prst="roundRect">
            <a:avLst/>
          </a:prstGeom>
          <a:solidFill>
            <a:srgbClr val="1A3D1A"/>
          </a:solidFill>
          <a:ln w="12700">
            <a:solidFill>
              <a:srgbClr val="00D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recommendation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capacity + demand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Maximized ROI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3657600"/>
            <a:ext cx="4297680" cy="2286000"/>
          </a:xfrm>
          <a:prstGeom prst="roundRect">
            <a:avLst/>
          </a:prstGeom>
          <a:solidFill>
            <a:srgbClr val="1A3D1A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38404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568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3931920" y="4846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stations identified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5303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where they fit — where they'll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9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Placement — Not More Building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capacity available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proven by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need identified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viability verified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0" y="1645920"/>
            <a:ext cx="4572000" cy="2743200"/>
          </a:xfrm>
          <a:prstGeom prst="roundRect">
            <a:avLst/>
          </a:prstGeom>
          <a:solidFill>
            <a:srgbClr val="007A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85800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capacity increase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new grid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That Pencils Out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74720" cy="182880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Avg Payback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30% EU grants)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3474720" cy="182880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Best 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performing sites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554480"/>
            <a:ext cx="3474720" cy="182880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41248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Sessions/Charger/Day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Industry: 5-12 benchmark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2,878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931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568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Proposed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931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58952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3,446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58952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Network by 2028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Customer Concerns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Infrastructure — Trust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3200400"/>
          </a:xfrm>
          <a:prstGeom prst="roundRect">
            <a:avLst/>
          </a:prstGeom>
          <a:solidFill>
            <a:srgbClr val="3D1A1A"/>
          </a:solidFill>
          <a:ln w="25400">
            <a:solidFill>
              <a:srgbClr val="FF3B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Current Pain Points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"App doesn't work at station"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"Prices change unexpectedly"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know if charger works"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"Route planning is difficult"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94960" cy="3200400"/>
          </a:xfrm>
          <a:prstGeom prst="roundRect">
            <a:avLst/>
          </a:prstGeom>
          <a:solidFill>
            <a:srgbClr val="1A3D1A"/>
          </a:solidFill>
          <a:ln w="25400">
            <a:solidFill>
              <a:srgbClr val="00D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Our Solution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placement = reliable coverage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Demand-based locations = proven usage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optimization = consistent availability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Customer-first = trust built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analyzed what EV drivers actually complain about — and built our model to solve those exact problems."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We Can Meet EU Targets — Smarter, Not Just Bigger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68880" y="1828800"/>
            <a:ext cx="914400" cy="914400"/>
          </a:xfrm>
          <a:prstGeom prst="ellipse">
            <a:avLst/>
          </a:prstGeom>
          <a:solidFill>
            <a:srgbClr val="00D86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locations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914400" cy="914400"/>
          </a:xfrm>
          <a:prstGeom prst="ellipse">
            <a:avLst/>
          </a:prstGeom>
          <a:solidFill>
            <a:srgbClr val="00D8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200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full year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784080" y="1828800"/>
            <a:ext cx="914400" cy="914400"/>
          </a:xfrm>
          <a:prstGeom prst="ellipse">
            <a:avLst/>
          </a:prstGeom>
          <a:solidFill>
            <a:srgbClr val="00D86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2028-2030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568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4572000"/>
            <a:ext cx="7616952" cy="1097280"/>
          </a:xfrm>
          <a:prstGeom prst="roundRect">
            <a:avLst/>
          </a:prstGeom>
          <a:solidFill>
            <a:srgbClr val="007A3D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846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Support for pilot implementation and data partnership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•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Iberdrola Datathon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Placement of EV Charging Infrastructure for Iberdrola</dc:title>
  <dc:subject>EV Charging Strategy - EU 2030 Requirements</dc:subject>
  <dc:creator>IE Business School Datathon Team</dc:creator>
  <cp:lastModifiedBy>IE Business School Datathon Team</cp:lastModifiedBy>
  <cp:revision>1</cp:revision>
  <dcterms:created xsi:type="dcterms:W3CDTF">2026-04-21T19:57:30Z</dcterms:created>
  <dcterms:modified xsi:type="dcterms:W3CDTF">2026-04-21T19:57:30Z</dcterms:modified>
</cp:coreProperties>
</file>