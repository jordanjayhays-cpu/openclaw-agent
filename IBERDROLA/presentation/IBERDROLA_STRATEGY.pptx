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DATATHON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Iberdrola Strategy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Dragon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Jules Doctora  •  Manuel Mapa  •  Jordan Hays  •  Yi Long  •  Silvia Mendoza  •  Almutasem Falatah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Spain's Energy Transition: A Pivotal Moment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03520" cy="219456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AFIR Regulation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150 kW fast-charging every 60 km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TEN-T core network coverage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from 2025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coverage by 2030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219456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 PNIEC Target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5.5 million EVs by 2030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Currently ~550,000 EVs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Long-distance bottleneck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Range anxiety persists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1274552" cy="1463040"/>
          </a:xfrm>
          <a:prstGeom prst="roundRect">
            <a:avLst/>
          </a:prstGeom>
          <a:solidFill>
            <a:srgbClr val="1A1A2A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"Range anxiety" blocks EV adoption. Drivers fear being stranded on inter-urban corridors.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Reliable, Fast, Green Charging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inter-urban corridor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474720" cy="292608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stations that 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drivers need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3474720" cy="292608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kW minimum power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wait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743200"/>
            <a:ext cx="3474720" cy="292608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🌿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1248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renewable energy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457200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NETWORK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Maximize Utilization Rates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Maximize Convenience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(Distance between Stations)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Minimize Capex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Maximize Profitability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57600" cy="457200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VIABILITY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3108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Grid Constraint Mapping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Friction Points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Identification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Assessment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 Readiness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657600" cy="457200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Optimization Model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 Friction Points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Timeline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Partnership Strategy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EV Fleet Projection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2286000"/>
          </a:xfrm>
          <a:prstGeom prst="roundRect">
            <a:avLst/>
          </a:prstGeom>
          <a:solidFill>
            <a:srgbClr val="1A3D1A"/>
          </a:solidFill>
          <a:ln w="25400">
            <a:solidFill>
              <a:srgbClr val="0097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EVs in 2027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(Conservative Scenario)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2286000"/>
          </a:xfrm>
          <a:prstGeom prst="roundRect">
            <a:avLst/>
          </a:prstGeom>
          <a:solidFill>
            <a:srgbClr val="1A3D1A"/>
          </a:solidFill>
          <a:ln w="25400">
            <a:solidFill>
              <a:srgbClr val="0097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88K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Average Sessions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657600" cy="2286000"/>
          </a:xfrm>
          <a:prstGeom prst="roundRect">
            <a:avLst/>
          </a:prstGeom>
          <a:solidFill>
            <a:srgbClr val="3D3D1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3816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CAGR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(Declining 15%/yr)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Design Variables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2743200" cy="164592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 Week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120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&gt;1.0 = Leisure routes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&lt;1.0 = Commuter routes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4663440"/>
            <a:ext cx="2743200" cy="164592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5120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 Mar, Jun,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Oct-Dec (fleet cycles)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4663440"/>
            <a:ext cx="2743200" cy="164592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120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by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4663440"/>
            <a:ext cx="2743200" cy="164592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Route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72600" y="5120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nationally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Station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164592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Chargers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station minimum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7406640" cy="1645920"/>
          </a:xfrm>
          <a:prstGeom prst="roundRect">
            <a:avLst/>
          </a:prstGeom>
          <a:solidFill>
            <a:srgbClr val="1A3D1A"/>
          </a:solidFill>
          <a:ln w="25400">
            <a:solidFill>
              <a:srgbClr val="0097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830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(Business Model)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1945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Pay-per-kWh (€0.45-0.65/kWh)  •  Fleet subscriptions  •  OCPI roaming  •  EU AFIR/CEF grants (up to 30% CAPEX)  •  Grid ancillary services (FCR/mFRR)  •  Media &amp; co-branding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Breakdown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2A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976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€2.08M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Total per Site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43891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Charger hardware: €25-40k/unit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Grid connection: €80-300k/site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Approach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Registrations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distribution of cars per 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Day-of-Week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daily sessions per lane (sedan/family car, 80% volume assumption)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analysis by route type and usage patterns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40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 Utilization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infrastructure for peak demand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0058400" cy="45720"/>
          </a:xfrm>
          <a:prstGeom prst="rect">
            <a:avLst/>
          </a:prstGeom>
          <a:solidFill>
            <a:srgbClr val="00974C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2971800"/>
            <a:ext cx="457200" cy="45720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60km coverage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TEN-T 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457200" cy="45720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locations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41280" y="2971800"/>
            <a:ext cx="457200" cy="457200"/>
          </a:xfrm>
          <a:prstGeom prst="ellipse">
            <a:avLst/>
          </a:prstGeom>
          <a:solidFill>
            <a:srgbClr val="00974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 EVs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Iberdrola Sustainability Datathon Strategy</dc:title>
  <dc:subject>EV Charging Network Strategy</dc:subject>
  <dc:creator>Team Electric Dragon</dc:creator>
  <cp:lastModifiedBy>Team Electric Dragon</cp:lastModifiedBy>
  <cp:revision>1</cp:revision>
  <dcterms:created xsi:type="dcterms:W3CDTF">2026-04-21T20:10:22Z</dcterms:created>
  <dcterms:modified xsi:type="dcterms:W3CDTF">2026-04-21T20:10:22Z</dcterms:modified>
</cp:coreProperties>
</file>